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6" r:id="rId7"/>
    <p:sldId id="260" r:id="rId8"/>
  </p:sldIdLst>
  <p:sldSz cx="18288000" cy="10287000"/>
  <p:notesSz cx="6858000" cy="9144000"/>
  <p:embeddedFontLst>
    <p:embeddedFont>
      <p:font typeface="Aadil" panose="020B0604020202020204" charset="-78"/>
      <p:regular r:id="rId9"/>
    </p:embeddedFont>
    <p:embeddedFont>
      <p:font typeface="Canva Sans Bold" panose="020B0604020202020204" charset="0"/>
      <p:regular r:id="rId10"/>
    </p:embeddedFont>
    <p:embeddedFont>
      <p:font typeface="Goudy Bold" panose="020B0604020202020204" charset="0"/>
      <p:regular r:id="rId11"/>
    </p:embeddedFont>
    <p:embeddedFont>
      <p:font typeface="Neue Montreal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DF8D1-CAF8-4752-8FD3-9C89FAAA2D79}" v="5" dt="2026-03-13T08:08:22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4" y="1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ixabay.com/en/idea-light-bulb-lit-bright-lights-1651681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enago.com/academy/statistics-in-research-data-analysis/" TargetMode="External"/><Relationship Id="rId5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0282238"/>
            <a:ext cx="18288000" cy="0"/>
          </a:xfrm>
          <a:prstGeom prst="line">
            <a:avLst/>
          </a:prstGeom>
          <a:ln w="9525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07195" y="464929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40"/>
                </a:lnTo>
                <a:lnTo>
                  <a:pt x="0" y="1450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131324" y="9258300"/>
            <a:ext cx="2571612" cy="873378"/>
          </a:xfrm>
          <a:custGeom>
            <a:avLst/>
            <a:gdLst/>
            <a:ahLst/>
            <a:cxnLst/>
            <a:rect l="l" t="t" r="r" b="b"/>
            <a:pathLst>
              <a:path w="2571612" h="873378">
                <a:moveTo>
                  <a:pt x="0" y="0"/>
                </a:moveTo>
                <a:lnTo>
                  <a:pt x="2571612" y="0"/>
                </a:lnTo>
                <a:lnTo>
                  <a:pt x="2571612" y="873378"/>
                </a:lnTo>
                <a:lnTo>
                  <a:pt x="0" y="873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916424" y="9632601"/>
            <a:ext cx="13606988" cy="62388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796967" y="-701436"/>
            <a:ext cx="3149217" cy="3149217"/>
          </a:xfrm>
          <a:custGeom>
            <a:avLst/>
            <a:gdLst/>
            <a:ahLst/>
            <a:cxnLst/>
            <a:rect l="l" t="t" r="r" b="b"/>
            <a:pathLst>
              <a:path w="3149217" h="3149217">
                <a:moveTo>
                  <a:pt x="0" y="0"/>
                </a:moveTo>
                <a:lnTo>
                  <a:pt x="3149217" y="0"/>
                </a:lnTo>
                <a:lnTo>
                  <a:pt x="3149217" y="3149216"/>
                </a:lnTo>
                <a:lnTo>
                  <a:pt x="0" y="3149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04379" y="1659925"/>
            <a:ext cx="2879104" cy="1358721"/>
            <a:chOff x="0" y="-57150"/>
            <a:chExt cx="758283" cy="357853"/>
          </a:xfrm>
        </p:grpSpPr>
        <p:sp>
          <p:nvSpPr>
            <p:cNvPr id="12" name="Freeform 12"/>
            <p:cNvSpPr/>
            <p:nvPr/>
          </p:nvSpPr>
          <p:spPr>
            <a:xfrm>
              <a:off x="21655" y="0"/>
              <a:ext cx="736628" cy="300703"/>
            </a:xfrm>
            <a:custGeom>
              <a:avLst/>
              <a:gdLst/>
              <a:ahLst/>
              <a:cxnLst/>
              <a:rect l="l" t="t" r="r" b="b"/>
              <a:pathLst>
                <a:path w="736628" h="300703">
                  <a:moveTo>
                    <a:pt x="150351" y="0"/>
                  </a:moveTo>
                  <a:lnTo>
                    <a:pt x="586276" y="0"/>
                  </a:lnTo>
                  <a:cubicBezTo>
                    <a:pt x="626152" y="0"/>
                    <a:pt x="664395" y="15841"/>
                    <a:pt x="692591" y="44037"/>
                  </a:cubicBezTo>
                  <a:cubicBezTo>
                    <a:pt x="720787" y="72233"/>
                    <a:pt x="736628" y="110476"/>
                    <a:pt x="736628" y="150351"/>
                  </a:cubicBezTo>
                  <a:lnTo>
                    <a:pt x="736628" y="150351"/>
                  </a:lnTo>
                  <a:cubicBezTo>
                    <a:pt x="736628" y="190227"/>
                    <a:pt x="720787" y="228469"/>
                    <a:pt x="692591" y="256666"/>
                  </a:cubicBezTo>
                  <a:cubicBezTo>
                    <a:pt x="664395" y="284862"/>
                    <a:pt x="626152" y="300703"/>
                    <a:pt x="586276" y="300703"/>
                  </a:cubicBezTo>
                  <a:lnTo>
                    <a:pt x="150351" y="300703"/>
                  </a:lnTo>
                  <a:cubicBezTo>
                    <a:pt x="110476" y="300703"/>
                    <a:pt x="72233" y="284862"/>
                    <a:pt x="44037" y="256666"/>
                  </a:cubicBezTo>
                  <a:cubicBezTo>
                    <a:pt x="15841" y="228469"/>
                    <a:pt x="0" y="190227"/>
                    <a:pt x="0" y="150351"/>
                  </a:cubicBezTo>
                  <a:lnTo>
                    <a:pt x="0" y="150351"/>
                  </a:lnTo>
                  <a:cubicBezTo>
                    <a:pt x="0" y="110476"/>
                    <a:pt x="15841" y="72233"/>
                    <a:pt x="44037" y="44037"/>
                  </a:cubicBezTo>
                  <a:cubicBezTo>
                    <a:pt x="72233" y="15841"/>
                    <a:pt x="110476" y="0"/>
                    <a:pt x="150351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73662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020202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  8 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1324" y="3085357"/>
            <a:ext cx="16946184" cy="6346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6785" lvl="1" indent="-453392">
              <a:lnSpc>
                <a:spcPts val="5880"/>
              </a:lnSpc>
              <a:buFont typeface="Arial"/>
              <a:buChar char="•"/>
            </a:pP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Domain					 :–         AI   ML</a:t>
            </a:r>
          </a:p>
          <a:p>
            <a:pPr marL="906785" lvl="1" indent="-453392">
              <a:lnSpc>
                <a:spcPts val="5880"/>
              </a:lnSpc>
              <a:buFont typeface="Arial"/>
              <a:buChar char="•"/>
            </a:pP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Problem   Statement   Title	:-   </a:t>
            </a:r>
            <a:r>
              <a:rPr lang="en-US" sz="36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AI       -    Powered         Code        </a:t>
            </a:r>
            <a:r>
              <a:rPr lang="en-US" sz="40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Analysis      and         Debugging          </a:t>
            </a: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Tool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Team    Leader      Name		    : -         Himanshu         Kukde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Group  No				:-         8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Team Name				:-         Pixel _ Pirates   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Members				:-      	Vedant        Raut </a:t>
            </a:r>
          </a:p>
          <a:p>
            <a:pPr marL="453393" lvl="1" algn="l">
              <a:lnSpc>
                <a:spcPts val="5880"/>
              </a:lnSpc>
            </a:pP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								Yash           Petkar</a:t>
            </a:r>
          </a:p>
          <a:p>
            <a:pPr marL="910593" lvl="2" algn="ctr">
              <a:lnSpc>
                <a:spcPts val="5880"/>
              </a:lnSpc>
            </a:pPr>
            <a:r>
              <a:rPr lang="en-US" sz="4200" dirty="0">
                <a:solidFill>
                  <a:srgbClr val="191919"/>
                </a:solidFill>
                <a:latin typeface="Aadil"/>
                <a:ea typeface="Aadil"/>
                <a:cs typeface="Aadil"/>
                <a:sym typeface="Aadil"/>
              </a:rPr>
              <a:t>  	Vishesh        Shrikhande</a:t>
            </a:r>
          </a:p>
          <a:p>
            <a:pPr marL="237512" lvl="1" indent="-118756" algn="l">
              <a:lnSpc>
                <a:spcPts val="1540"/>
              </a:lnSpc>
              <a:buAutoNum type="arabicPeriod"/>
            </a:pPr>
            <a:endParaRPr lang="en-US" sz="4200" dirty="0">
              <a:solidFill>
                <a:srgbClr val="191919"/>
              </a:solidFill>
              <a:latin typeface="Aadil"/>
              <a:ea typeface="Aadil"/>
              <a:cs typeface="Aadil"/>
              <a:sym typeface="Aadi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02936" y="9782428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59528" y="911069"/>
            <a:ext cx="1244418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1"/>
              </a:lnSpc>
            </a:pPr>
            <a:r>
              <a:rPr lang="en-US" sz="7600" b="1" spc="-456" dirty="0">
                <a:solidFill>
                  <a:srgbClr val="000000"/>
                </a:solidFill>
                <a:latin typeface="Goudy Bold"/>
                <a:ea typeface="Goudy Bold"/>
                <a:cs typeface="Goudy Bold"/>
                <a:sym typeface="Goudy Bold"/>
              </a:rPr>
              <a:t>IDEA TITLE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GROUP-8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8"/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2" name="Freeform 12"/>
          <p:cNvSpPr/>
          <p:nvPr/>
        </p:nvSpPr>
        <p:spPr>
          <a:xfrm>
            <a:off x="4267200" y="1957842"/>
            <a:ext cx="9228841" cy="6523595"/>
          </a:xfrm>
          <a:custGeom>
            <a:avLst/>
            <a:gdLst/>
            <a:ahLst/>
            <a:cxnLst/>
            <a:rect l="l" t="t" r="r" b="b"/>
            <a:pathLst>
              <a:path w="9228841" h="6523595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3515" t="-23221" b="-23221"/>
            </a:stretch>
          </a:blipFill>
        </p:spPr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93FD899B-C55A-86DE-4451-8B2812A1E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E117C1-2EA8-47E5-B78D-485185415A9C}"/>
              </a:ext>
            </a:extLst>
          </p:cNvPr>
          <p:cNvSpPr txBox="1"/>
          <p:nvPr/>
        </p:nvSpPr>
        <p:spPr>
          <a:xfrm>
            <a:off x="649980" y="2096438"/>
            <a:ext cx="1463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Smart Debugger : </a:t>
            </a:r>
          </a:p>
          <a:p>
            <a:r>
              <a:rPr lang="en-US" sz="4000" dirty="0"/>
              <a:t>Ai Driven Code Analysis Tool </a:t>
            </a:r>
            <a:endParaRPr lang="en-IN" sz="4000" dirty="0"/>
          </a:p>
          <a:p>
            <a:endParaRPr lang="en-IN"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06CF1-99D0-9CC1-C831-7A87EA524C48}"/>
              </a:ext>
            </a:extLst>
          </p:cNvPr>
          <p:cNvSpPr txBox="1"/>
          <p:nvPr/>
        </p:nvSpPr>
        <p:spPr>
          <a:xfrm>
            <a:off x="484555" y="3431034"/>
            <a:ext cx="8991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Automatic Bug Detection</a:t>
            </a:r>
          </a:p>
          <a:p>
            <a:r>
              <a:rPr lang="en-US" sz="2600" dirty="0"/>
              <a:t>Uses AI to quickly identify errors, bugs, and inefficient code in programs</a:t>
            </a:r>
            <a:r>
              <a:rPr lang="en-US" sz="2400" dirty="0"/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Smart Code Analysis</a:t>
            </a:r>
          </a:p>
          <a:p>
            <a:r>
              <a:rPr lang="en-US" sz="2600" dirty="0"/>
              <a:t>Analyzes the structure and logic of the code to detect syntax, runtime, and logical issues</a:t>
            </a:r>
            <a:r>
              <a:rPr lang="en-US" sz="2400" dirty="0"/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Suggested Fixes</a:t>
            </a:r>
          </a:p>
          <a:p>
            <a:r>
              <a:rPr lang="en-US" sz="2600" dirty="0"/>
              <a:t>Provides intelligent suggestions and possible solutions to fix detected problems</a:t>
            </a:r>
            <a:r>
              <a:rPr lang="en-US" sz="2400" dirty="0"/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Time-Efficient Development</a:t>
            </a:r>
          </a:p>
          <a:p>
            <a:r>
              <a:rPr lang="en-US" sz="2600" dirty="0"/>
              <a:t>Reduces debugging time and helps developers improve code quality and productivity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22" name="Picture 21" descr="The image depicts a simple, cartoon-like figure with a neutral expression, holding a light bulb, which is illuminated and emits a yellow glow.&#10;&#10;AI-generated content may be incorrect.">
            <a:extLst>
              <a:ext uri="{FF2B5EF4-FFF2-40B4-BE49-F238E27FC236}">
                <a16:creationId xmlns:a16="http://schemas.microsoft.com/office/drawing/2014/main" id="{632D3324-6537-C6C3-01BA-BB6FA97ED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flipH="1">
            <a:off x="10780019" y="1655710"/>
            <a:ext cx="4872186" cy="8010675"/>
          </a:xfrm>
          <a:prstGeom prst="rect">
            <a:avLst/>
          </a:prstGeom>
          <a:effectLst>
            <a:glow rad="127000">
              <a:schemeClr val="bg1">
                <a:lumMod val="85000"/>
              </a:schemeClr>
            </a:glow>
          </a:effectLst>
          <a:scene3d>
            <a:camera prst="orthographicFront"/>
            <a:lightRig rig="threePt" dir="t"/>
          </a:scene3d>
          <a:sp3d extrusionH="76200">
            <a:bevelT w="139700" h="139700" prst="divot"/>
            <a:bevelB w="139700" h="139700" prst="divot"/>
            <a:extrusionClr>
              <a:schemeClr val="bg1">
                <a:lumMod val="50000"/>
              </a:schemeClr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77880" y="1371374"/>
            <a:ext cx="124441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400" b="1" spc="-384" dirty="0">
                <a:solidFill>
                  <a:srgbClr val="000000"/>
                </a:solidFill>
                <a:latin typeface="Goudy Bold"/>
                <a:ea typeface="Goudy Bold"/>
                <a:cs typeface="Goudy Bold"/>
                <a:sym typeface="Goudy Bold"/>
              </a:rPr>
              <a:t>FEASIBILITY AND VIABILITY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GROUP-8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C127F7A9-AC52-7E53-92C7-C287A451B105}"/>
              </a:ext>
            </a:extLst>
          </p:cNvPr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9F0EAEE-B967-639A-F3A5-C4475EDC0C7E}"/>
              </a:ext>
            </a:extLst>
          </p:cNvPr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DFCD27-9D27-D0DD-6A54-D3DE5CB9C3AC}"/>
              </a:ext>
            </a:extLst>
          </p:cNvPr>
          <p:cNvSpPr/>
          <p:nvPr/>
        </p:nvSpPr>
        <p:spPr>
          <a:xfrm>
            <a:off x="2785060" y="4059831"/>
            <a:ext cx="5257800" cy="259079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F2BB9-2E67-C4F6-762C-784CC61718A8}"/>
              </a:ext>
            </a:extLst>
          </p:cNvPr>
          <p:cNvSpPr txBox="1"/>
          <p:nvPr/>
        </p:nvSpPr>
        <p:spPr>
          <a:xfrm>
            <a:off x="2785060" y="4735363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  FEASIBILITY</a:t>
            </a:r>
            <a:endParaRPr lang="en-IN" sz="4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2F6963-D8E5-3E8B-AA95-25D562E46152}"/>
              </a:ext>
            </a:extLst>
          </p:cNvPr>
          <p:cNvSpPr/>
          <p:nvPr/>
        </p:nvSpPr>
        <p:spPr>
          <a:xfrm>
            <a:off x="9890583" y="4059830"/>
            <a:ext cx="5257800" cy="259079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C0CCC-527C-47D4-60D0-736BEF20147A}"/>
              </a:ext>
            </a:extLst>
          </p:cNvPr>
          <p:cNvSpPr txBox="1"/>
          <p:nvPr/>
        </p:nvSpPr>
        <p:spPr>
          <a:xfrm>
            <a:off x="10058400" y="4694983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VIABILITY</a:t>
            </a:r>
            <a:endParaRPr lang="en-IN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38BA-8073-D15D-90CD-3629AA13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62456D2-EF71-11C9-FDB8-F1516953C0CA}"/>
              </a:ext>
            </a:extLst>
          </p:cNvPr>
          <p:cNvSpPr/>
          <p:nvPr/>
        </p:nvSpPr>
        <p:spPr>
          <a:xfrm>
            <a:off x="10175185" y="4059832"/>
            <a:ext cx="5257800" cy="259079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33B86542-875B-D68D-B398-2261B403A90D}"/>
              </a:ext>
            </a:extLst>
          </p:cNvPr>
          <p:cNvSpPr txBox="1"/>
          <p:nvPr/>
        </p:nvSpPr>
        <p:spPr>
          <a:xfrm>
            <a:off x="3477880" y="1371374"/>
            <a:ext cx="124441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400" b="1" spc="-384" dirty="0">
                <a:solidFill>
                  <a:srgbClr val="000000"/>
                </a:solidFill>
                <a:latin typeface="Goudy Bold"/>
                <a:ea typeface="Goudy Bold"/>
                <a:cs typeface="Goudy Bold"/>
                <a:sym typeface="Goudy Bold"/>
              </a:rPr>
              <a:t>FEASIBILITY AND VIABILITY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2AD9DFE-9ED2-A5E0-F53A-EE71FB3874A9}"/>
              </a:ext>
            </a:extLst>
          </p:cNvPr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AA284B1-A014-3290-22BF-6EE859EC9B06}"/>
                </a:ext>
              </a:extLst>
            </p:cNvPr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2A1CA6E-5AF7-47AE-1765-17BEB3B345C6}"/>
                </a:ext>
              </a:extLst>
            </p:cNvPr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GROUP-8</a:t>
              </a: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E5583EE-D356-1EF3-6C51-ED983FA219AC}"/>
              </a:ext>
            </a:extLst>
          </p:cNvPr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5CD42F1B-4684-01E6-03B9-81035846F195}"/>
              </a:ext>
            </a:extLst>
          </p:cNvPr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B914531-A356-7BBF-D54E-BA63A4D98858}"/>
              </a:ext>
            </a:extLst>
          </p:cNvPr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FFD8428-D4F0-A810-581C-D959F1914B2E}"/>
              </a:ext>
            </a:extLst>
          </p:cNvPr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BDCF98F7-1510-390A-7786-A50E4050F0C9}"/>
              </a:ext>
            </a:extLst>
          </p:cNvPr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0C8B0F-AD67-2E05-D1AE-DEA162541C56}"/>
              </a:ext>
            </a:extLst>
          </p:cNvPr>
          <p:cNvSpPr/>
          <p:nvPr/>
        </p:nvSpPr>
        <p:spPr>
          <a:xfrm>
            <a:off x="1066800" y="2390994"/>
            <a:ext cx="6172200" cy="689089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E0FC5-8F24-893B-6B68-7C5F44D0337D}"/>
              </a:ext>
            </a:extLst>
          </p:cNvPr>
          <p:cNvSpPr txBox="1"/>
          <p:nvPr/>
        </p:nvSpPr>
        <p:spPr>
          <a:xfrm>
            <a:off x="1714881" y="2874300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FEASIBILITY</a:t>
            </a:r>
            <a:endParaRPr lang="en-IN" sz="4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1CD989-F3AF-0584-FB81-0F52E0094A81}"/>
              </a:ext>
            </a:extLst>
          </p:cNvPr>
          <p:cNvSpPr txBox="1"/>
          <p:nvPr/>
        </p:nvSpPr>
        <p:spPr>
          <a:xfrm>
            <a:off x="10518085" y="4695539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VIABILITY</a:t>
            </a:r>
            <a:endParaRPr lang="en-IN" sz="4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C3045-37E6-C456-A853-6C1735A3E31A}"/>
              </a:ext>
            </a:extLst>
          </p:cNvPr>
          <p:cNvSpPr txBox="1"/>
          <p:nvPr/>
        </p:nvSpPr>
        <p:spPr>
          <a:xfrm>
            <a:off x="1866520" y="3690247"/>
            <a:ext cx="442036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High Complexity – The system may become complex and difficult to maintain due to advanced AI algorithms.</a:t>
            </a:r>
            <a:endParaRPr lang="en-IN" sz="2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9D1A1-0564-1B0E-B18E-0023FFD23CBB}"/>
              </a:ext>
            </a:extLst>
          </p:cNvPr>
          <p:cNvSpPr txBox="1"/>
          <p:nvPr/>
        </p:nvSpPr>
        <p:spPr>
          <a:xfrm>
            <a:off x="1708045" y="5986963"/>
            <a:ext cx="442036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Dependence on Data Quality – If the training data is poor or limited, the debugging suggestions may be inaccurate.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11656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0F7A-AD2F-FA84-3829-5A6B7F9F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D8FB64-2FA7-A9AC-C138-FFA77F5FB3FF}"/>
              </a:ext>
            </a:extLst>
          </p:cNvPr>
          <p:cNvSpPr/>
          <p:nvPr/>
        </p:nvSpPr>
        <p:spPr>
          <a:xfrm>
            <a:off x="1249532" y="4117302"/>
            <a:ext cx="5257800" cy="259079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E27F705F-50DD-B329-8044-3E5417044891}"/>
              </a:ext>
            </a:extLst>
          </p:cNvPr>
          <p:cNvSpPr txBox="1"/>
          <p:nvPr/>
        </p:nvSpPr>
        <p:spPr>
          <a:xfrm>
            <a:off x="3477880" y="1371374"/>
            <a:ext cx="124441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400" b="1" spc="-384" dirty="0">
                <a:solidFill>
                  <a:srgbClr val="000000"/>
                </a:solidFill>
                <a:latin typeface="Goudy Bold"/>
                <a:ea typeface="Goudy Bold"/>
                <a:cs typeface="Goudy Bold"/>
                <a:sym typeface="Goudy Bold"/>
              </a:rPr>
              <a:t>FEASIBILITY AND VIABILITY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39EFFB5-6651-FB79-B4DD-F5BE3CAF98DB}"/>
              </a:ext>
            </a:extLst>
          </p:cNvPr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D358688-FC10-E522-95B1-90D53535EC6F}"/>
                </a:ext>
              </a:extLst>
            </p:cNvPr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5EE4958-BB03-C1CC-9741-C9526CB6DD2B}"/>
                </a:ext>
              </a:extLst>
            </p:cNvPr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GROUP-8</a:t>
              </a: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31950BF-2241-3F8F-F6B9-D39F76D209F8}"/>
              </a:ext>
            </a:extLst>
          </p:cNvPr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644EEBE-2B45-E7CC-B671-31BEB8AA5D6C}"/>
              </a:ext>
            </a:extLst>
          </p:cNvPr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68699C1-410B-7132-1501-8AEC4BA35F9A}"/>
              </a:ext>
            </a:extLst>
          </p:cNvPr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AA21A574-C7B9-5BDF-C3F4-13C9BFB7E60F}"/>
              </a:ext>
            </a:extLst>
          </p:cNvPr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6FFC7B6E-5611-DD33-23EB-CDB4E074327B}"/>
              </a:ext>
            </a:extLst>
          </p:cNvPr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61790CC-79FE-3193-6855-A71E00A12066}"/>
              </a:ext>
            </a:extLst>
          </p:cNvPr>
          <p:cNvSpPr/>
          <p:nvPr/>
        </p:nvSpPr>
        <p:spPr>
          <a:xfrm>
            <a:off x="8833938" y="2440300"/>
            <a:ext cx="6400800" cy="638012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2422A0-0CC5-D256-E9E4-83DE7838E05F}"/>
              </a:ext>
            </a:extLst>
          </p:cNvPr>
          <p:cNvSpPr txBox="1"/>
          <p:nvPr/>
        </p:nvSpPr>
        <p:spPr>
          <a:xfrm>
            <a:off x="1447801" y="4860922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FEASIBILITY</a:t>
            </a:r>
            <a:endParaRPr lang="en-IN" sz="4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803AC8-7766-56D7-1C4B-9F7029E97CEF}"/>
              </a:ext>
            </a:extLst>
          </p:cNvPr>
          <p:cNvSpPr txBox="1"/>
          <p:nvPr/>
        </p:nvSpPr>
        <p:spPr>
          <a:xfrm>
            <a:off x="9372600" y="2944879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VIABILITY</a:t>
            </a:r>
            <a:endParaRPr lang="en-IN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CFFB4-BD8C-09F7-0D52-F946F3D19EAC}"/>
              </a:ext>
            </a:extLst>
          </p:cNvPr>
          <p:cNvSpPr txBox="1"/>
          <p:nvPr/>
        </p:nvSpPr>
        <p:spPr>
          <a:xfrm>
            <a:off x="9144000" y="4053157"/>
            <a:ext cx="491489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Improves Development Efficiency – Helps developers find and fix bugs faster, saving time and effort.</a:t>
            </a:r>
            <a:endParaRPr lang="en-IN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2A6417-717A-C22A-298C-FE41A0E79CAD}"/>
              </a:ext>
            </a:extLst>
          </p:cNvPr>
          <p:cNvSpPr txBox="1"/>
          <p:nvPr/>
        </p:nvSpPr>
        <p:spPr>
          <a:xfrm>
            <a:off x="9208814" y="5825585"/>
            <a:ext cx="471974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Scalable and Future-Oriented – Can be improved with better AI models and integrated into modern development environments.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273511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225A-0C57-F238-D54C-164BFF7D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Left 14">
            <a:extLst>
              <a:ext uri="{FF2B5EF4-FFF2-40B4-BE49-F238E27FC236}">
                <a16:creationId xmlns:a16="http://schemas.microsoft.com/office/drawing/2014/main" id="{5B8977DA-B18D-D6AB-3695-C9FA3D834900}"/>
              </a:ext>
            </a:extLst>
          </p:cNvPr>
          <p:cNvSpPr/>
          <p:nvPr/>
        </p:nvSpPr>
        <p:spPr>
          <a:xfrm rot="1710557">
            <a:off x="4866610" y="3601782"/>
            <a:ext cx="2133600" cy="1095374"/>
          </a:xfrm>
          <a:prstGeom prst="lef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BENEFITS</a:t>
            </a: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C3219317-001C-96C1-8C02-DDC2E93399FD}"/>
              </a:ext>
            </a:extLst>
          </p:cNvPr>
          <p:cNvSpPr/>
          <p:nvPr/>
        </p:nvSpPr>
        <p:spPr>
          <a:xfrm rot="20327866">
            <a:off x="4987161" y="7034769"/>
            <a:ext cx="1889100" cy="1095374"/>
          </a:xfrm>
          <a:prstGeom prst="lef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BENEFITS</a:t>
            </a:r>
            <a:endParaRPr lang="en-IN" dirty="0">
              <a:solidFill>
                <a:srgbClr val="000000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3701B16F-2542-63E9-23EA-608E937E209F}"/>
              </a:ext>
            </a:extLst>
          </p:cNvPr>
          <p:cNvSpPr/>
          <p:nvPr/>
        </p:nvSpPr>
        <p:spPr>
          <a:xfrm rot="12501388">
            <a:off x="10770102" y="7113781"/>
            <a:ext cx="2127617" cy="1095374"/>
          </a:xfrm>
          <a:prstGeom prst="lef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4BA3C0E7-BC25-47BE-CDB2-3B578E1A9D8E}"/>
              </a:ext>
            </a:extLst>
          </p:cNvPr>
          <p:cNvSpPr/>
          <p:nvPr/>
        </p:nvSpPr>
        <p:spPr>
          <a:xfrm rot="9285571">
            <a:off x="10522973" y="3581774"/>
            <a:ext cx="2133600" cy="1095374"/>
          </a:xfrm>
          <a:prstGeom prst="lef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3DB9114-2858-0B4C-F698-E63C513DEF39}"/>
              </a:ext>
            </a:extLst>
          </p:cNvPr>
          <p:cNvSpPr txBox="1"/>
          <p:nvPr/>
        </p:nvSpPr>
        <p:spPr>
          <a:xfrm>
            <a:off x="3477880" y="1371374"/>
            <a:ext cx="124441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1"/>
              </a:lnSpc>
            </a:pPr>
            <a:r>
              <a:rPr lang="en-US" sz="6400" b="1" spc="-384">
                <a:solidFill>
                  <a:srgbClr val="000000"/>
                </a:solidFill>
                <a:latin typeface="Goudy Bold"/>
                <a:ea typeface="Goudy Bold"/>
                <a:cs typeface="Goudy Bold"/>
                <a:sym typeface="Goudy Bold"/>
              </a:rPr>
              <a:t>IMPACT AND BENEFITS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91770E8-939B-B728-74CE-351BF967ADA8}"/>
              </a:ext>
            </a:extLst>
          </p:cNvPr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50F1DE-E674-F64A-EC74-24272B23A529}"/>
                </a:ext>
              </a:extLst>
            </p:cNvPr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0CC1AA-DD64-7415-EC72-629F7C50C722}"/>
                </a:ext>
              </a:extLst>
            </p:cNvPr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GROUP-8</a:t>
              </a: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C35AA09-982F-CA28-7A0C-43F545DD9AF6}"/>
              </a:ext>
            </a:extLst>
          </p:cNvPr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F82EF48-F693-4FC7-CC52-A525C02D5937}"/>
              </a:ext>
            </a:extLst>
          </p:cNvPr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092F473-3736-4DED-E27A-C0E87AE43382}"/>
              </a:ext>
            </a:extLst>
          </p:cNvPr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9678367B-48D9-6393-B737-FBFCB1CBC7B8}"/>
              </a:ext>
            </a:extLst>
          </p:cNvPr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0DD1D74-603C-DC8D-E80D-BD2B0F6EA521}"/>
              </a:ext>
            </a:extLst>
          </p:cNvPr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90E350-5736-878D-B8F5-F90EE0B1FCB0}"/>
              </a:ext>
            </a:extLst>
          </p:cNvPr>
          <p:cNvSpPr/>
          <p:nvPr/>
        </p:nvSpPr>
        <p:spPr>
          <a:xfrm>
            <a:off x="6239928" y="3487694"/>
            <a:ext cx="5334000" cy="4952999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2995D-388B-513E-345B-1E5D2CB60FC8}"/>
              </a:ext>
            </a:extLst>
          </p:cNvPr>
          <p:cNvSpPr txBox="1"/>
          <p:nvPr/>
        </p:nvSpPr>
        <p:spPr>
          <a:xfrm>
            <a:off x="7168357" y="4295781"/>
            <a:ext cx="350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000000"/>
                </a:solidFill>
              </a:rPr>
              <a:t>IMAPCT </a:t>
            </a:r>
          </a:p>
          <a:p>
            <a:pPr algn="ctr"/>
            <a:r>
              <a:rPr lang="en-US" sz="6000" dirty="0">
                <a:solidFill>
                  <a:srgbClr val="000000"/>
                </a:solidFill>
              </a:rPr>
              <a:t>AND</a:t>
            </a:r>
          </a:p>
          <a:p>
            <a:pPr algn="ctr"/>
            <a:r>
              <a:rPr lang="en-US" sz="6000" dirty="0">
                <a:solidFill>
                  <a:srgbClr val="000000"/>
                </a:solidFill>
              </a:rPr>
              <a:t>BENEFITS</a:t>
            </a:r>
            <a:endParaRPr lang="en-IN" sz="6000" dirty="0">
              <a:solidFill>
                <a:srgbClr val="000000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C31A1B0-E451-2567-DCA6-40AA9B4EE518}"/>
              </a:ext>
            </a:extLst>
          </p:cNvPr>
          <p:cNvSpPr/>
          <p:nvPr/>
        </p:nvSpPr>
        <p:spPr>
          <a:xfrm>
            <a:off x="12728030" y="2463757"/>
            <a:ext cx="4800600" cy="274348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Increases Productivity – Automates debugging tasks, allowing developers to focus on writing better code.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7E8B5CE-E2A0-1A29-D0ED-8F4582942DC4}"/>
              </a:ext>
            </a:extLst>
          </p:cNvPr>
          <p:cNvSpPr/>
          <p:nvPr/>
        </p:nvSpPr>
        <p:spPr>
          <a:xfrm>
            <a:off x="12752170" y="6730235"/>
            <a:ext cx="4800600" cy="274348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  <a:bevelB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Cost Effective – Reduces time and resources spent on manual debugging and maintenance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519A60-2A85-9FE7-2A6A-827583956243}"/>
              </a:ext>
            </a:extLst>
          </p:cNvPr>
          <p:cNvSpPr/>
          <p:nvPr/>
        </p:nvSpPr>
        <p:spPr>
          <a:xfrm>
            <a:off x="227837" y="2290185"/>
            <a:ext cx="4800600" cy="274348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Improves Software Quality – Detects bugs early and ensures more reliable and error-free software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32A5A8-2112-9509-9CE0-CF7D36FE5FAA}"/>
              </a:ext>
            </a:extLst>
          </p:cNvPr>
          <p:cNvSpPr/>
          <p:nvPr/>
        </p:nvSpPr>
        <p:spPr>
          <a:xfrm>
            <a:off x="227837" y="6434288"/>
            <a:ext cx="4800600" cy="274348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250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Faster Development Process – Developers can identify and fix issues quickly, reducing development time</a:t>
            </a:r>
            <a:r>
              <a:rPr lang="en-US" sz="2800" dirty="0"/>
              <a:t>.</a:t>
            </a:r>
            <a:endParaRPr lang="en-IN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8514C2-7E96-FC48-C2BE-E01F10A9A099}"/>
              </a:ext>
            </a:extLst>
          </p:cNvPr>
          <p:cNvSpPr txBox="1"/>
          <p:nvPr/>
        </p:nvSpPr>
        <p:spPr>
          <a:xfrm rot="1796306">
            <a:off x="11293281" y="7514639"/>
            <a:ext cx="105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IMPACT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6F72C9-1C65-C3EE-4BF9-B8372C470104}"/>
              </a:ext>
            </a:extLst>
          </p:cNvPr>
          <p:cNvSpPr txBox="1"/>
          <p:nvPr/>
        </p:nvSpPr>
        <p:spPr>
          <a:xfrm rot="20092517">
            <a:off x="11112659" y="3928533"/>
            <a:ext cx="105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IMPACT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12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7" grpId="0"/>
      <p:bldP spid="20" grpId="0" animBg="1"/>
      <p:bldP spid="22" grpId="0" animBg="1"/>
      <p:bldP spid="23" grpId="0" animBg="1"/>
      <p:bldP spid="24" grpId="0" animBg="1"/>
      <p:bldP spid="19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77880" y="1371374"/>
            <a:ext cx="12444184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1"/>
              </a:lnSpc>
            </a:pPr>
            <a:r>
              <a:rPr lang="en-US" sz="6400" b="1" spc="-384">
                <a:solidFill>
                  <a:srgbClr val="020202"/>
                </a:solidFill>
                <a:latin typeface="Goudy Bold"/>
                <a:ea typeface="Goudy Bold"/>
                <a:cs typeface="Goudy Bold"/>
                <a:sym typeface="Goudy Bold"/>
              </a:rPr>
              <a:t>RESEARCH AND REFERENCES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652205" y="9565386"/>
            <a:ext cx="2407958" cy="661283"/>
            <a:chOff x="0" y="0"/>
            <a:chExt cx="634195" cy="174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195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4195" cy="231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GROUP-8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2930000" y="9696477"/>
            <a:ext cx="12198330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Nagpur | Pune | Jalgaon | Amravati | Pandhura | Bhandara</a:t>
            </a:r>
          </a:p>
        </p:txBody>
      </p:sp>
      <p:sp>
        <p:nvSpPr>
          <p:cNvPr id="12" name="Freeform 12"/>
          <p:cNvSpPr/>
          <p:nvPr/>
        </p:nvSpPr>
        <p:spPr>
          <a:xfrm>
            <a:off x="4288580" y="2071461"/>
            <a:ext cx="9228841" cy="6523595"/>
          </a:xfrm>
          <a:custGeom>
            <a:avLst/>
            <a:gdLst/>
            <a:ahLst/>
            <a:cxnLst/>
            <a:rect l="l" t="t" r="r" b="b"/>
            <a:pathLst>
              <a:path w="9228841" h="6523595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3515" t="-23221" b="-23221"/>
            </a:stretch>
          </a:blipFill>
        </p:spPr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53D9FBD5-CA87-7A84-7DFB-051501905E90}"/>
              </a:ext>
            </a:extLst>
          </p:cNvPr>
          <p:cNvSpPr/>
          <p:nvPr/>
        </p:nvSpPr>
        <p:spPr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57A1044B-3E2F-99DD-EC48-178A5C35981E}"/>
              </a:ext>
            </a:extLst>
          </p:cNvPr>
          <p:cNvSpPr/>
          <p:nvPr/>
        </p:nvSpPr>
        <p:spPr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90799-F319-4308-F76F-435A196D9ABD}"/>
              </a:ext>
            </a:extLst>
          </p:cNvPr>
          <p:cNvSpPr txBox="1"/>
          <p:nvPr/>
        </p:nvSpPr>
        <p:spPr>
          <a:xfrm>
            <a:off x="227837" y="2857500"/>
            <a:ext cx="1165936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RESEARCH :- </a:t>
            </a:r>
          </a:p>
          <a:p>
            <a:r>
              <a:rPr lang="en-US" sz="3600" dirty="0"/>
              <a:t>AI-Based Code Analysis Techniques – Research focuses on using machine learning and natural language processing to automatically detect bugs and code inefficiencies.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707BF-6D15-C1B8-398F-AC883EC69F25}"/>
              </a:ext>
            </a:extLst>
          </p:cNvPr>
          <p:cNvSpPr txBox="1"/>
          <p:nvPr/>
        </p:nvSpPr>
        <p:spPr>
          <a:xfrm>
            <a:off x="228600" y="5382668"/>
            <a:ext cx="11963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REFRENCES :-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/>
              <a:t>Visual Studio Code – A popular source-code editor that provides debugging tools, extensions, and AI-based development support.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/>
              <a:t>Microsoft Documentation and resources on using VS Code for code analysis, debugging, and development.</a:t>
            </a:r>
          </a:p>
        </p:txBody>
      </p:sp>
      <p:pic>
        <p:nvPicPr>
          <p:cNvPr id="23" name="Picture 22" descr="A hand is writing on a document with a blue background featuring a line graph.">
            <a:extLst>
              <a:ext uri="{FF2B5EF4-FFF2-40B4-BE49-F238E27FC236}">
                <a16:creationId xmlns:a16="http://schemas.microsoft.com/office/drawing/2014/main" id="{DD3AEE59-A3C6-9D6C-BC57-131C1BAA77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2192000" y="2301218"/>
            <a:ext cx="5960545" cy="7263053"/>
          </a:xfrm>
          <a:prstGeom prst="rect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461</Words>
  <Application>Microsoft Office PowerPoint</Application>
  <PresentationFormat>Custom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Aadil</vt:lpstr>
      <vt:lpstr>Wingdings</vt:lpstr>
      <vt:lpstr>Arial</vt:lpstr>
      <vt:lpstr>Neue Montreal Bold</vt:lpstr>
      <vt:lpstr>Canva Sans Bold</vt:lpstr>
      <vt:lpstr>Goudy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RSOC-2026</dc:title>
  <dc:creator>Nihal Parkhi</dc:creator>
  <cp:lastModifiedBy>Vedant Raut</cp:lastModifiedBy>
  <cp:revision>5</cp:revision>
  <dcterms:created xsi:type="dcterms:W3CDTF">2006-08-16T00:00:00Z</dcterms:created>
  <dcterms:modified xsi:type="dcterms:W3CDTF">2026-03-13T08:17:28Z</dcterms:modified>
  <dc:identifier>DAHDqI-E1TY</dc:identifier>
</cp:coreProperties>
</file>